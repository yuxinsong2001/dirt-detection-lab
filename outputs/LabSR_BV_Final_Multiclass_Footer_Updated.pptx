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e81879af1b480a" /><Relationship Type="http://schemas.openxmlformats.org/officeDocument/2006/relationships/extended-properties" Target="/docProps/app.xml" Id="R1b4eb73c9d4d4e49" /><Relationship Type="http://schemas.openxmlformats.org/officeDocument/2006/relationships/officeDocument" Target="/ppt/presentation.xml" Id="Rcb9fa406e59d48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61e97591d433e"/>
  </p:sldMasterIdLst>
  <p:notesMasterIdLst>
    <p:notesMasterId xmlns:r="http://schemas.openxmlformats.org/officeDocument/2006/relationships" r:id="R97a69e7fc0bb48c6"/>
  </p:notesMasterIdLst>
  <p:sldIdLst>
    <p:sldId xmlns:r="http://schemas.openxmlformats.org/officeDocument/2006/relationships" id="256" r:id="Rc1452721ad664966"/>
    <p:sldId xmlns:r="http://schemas.openxmlformats.org/officeDocument/2006/relationships" id="257" r:id="R26c8f6a56599459c"/>
    <p:sldId xmlns:r="http://schemas.openxmlformats.org/officeDocument/2006/relationships" id="258" r:id="Ra1175c05d3c646dc"/>
    <p:sldId xmlns:r="http://schemas.openxmlformats.org/officeDocument/2006/relationships" id="259" r:id="R1dd60e12b3eb482d"/>
    <p:sldId xmlns:r="http://schemas.openxmlformats.org/officeDocument/2006/relationships" id="260" r:id="Rc27e1171b80745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0017a6b8d24f34" /><Relationship Type="http://schemas.openxmlformats.org/officeDocument/2006/relationships/slideMaster" Target="/ppt/slideMasters/slideMaster1.xml" Id="Rd5461e97591d433e" /><Relationship Type="http://schemas.openxmlformats.org/officeDocument/2006/relationships/notesMaster" Target="/ppt/notesMasters/notesMaster1.xml" Id="R97a69e7fc0bb48c6" /><Relationship Type="http://schemas.openxmlformats.org/officeDocument/2006/relationships/presProps" Target="/ppt/presProps.xml" Id="R45f2c0a4916948b7" /><Relationship Type="http://schemas.openxmlformats.org/officeDocument/2006/relationships/tableStyles" Target="/ppt/tableStyles.xml" Id="R09b7efcdf2d74332" /><Relationship Type="http://schemas.openxmlformats.org/officeDocument/2006/relationships/slide" Target="/ppt/slides/slide1.xml" Id="Rc1452721ad664966" /><Relationship Type="http://schemas.openxmlformats.org/officeDocument/2006/relationships/slide" Target="/ppt/slides/slide2.xml" Id="R26c8f6a56599459c" /><Relationship Type="http://schemas.openxmlformats.org/officeDocument/2006/relationships/slide" Target="/ppt/slides/slide3.xml" Id="Ra1175c05d3c646dc" /><Relationship Type="http://schemas.openxmlformats.org/officeDocument/2006/relationships/slide" Target="/ppt/slides/slide4.xml" Id="R1dd60e12b3eb482d" /><Relationship Type="http://schemas.openxmlformats.org/officeDocument/2006/relationships/slide" Target="/ppt/slides/slide5.xml" Id="Rc27e1171b80745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9ba906e702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Frutiger 55 Roman"/>
        <a:ea typeface=""/>
        <a:cs typeface=""/>
      </a:majorFont>
      <a:minorFont>
        <a:latin typeface="Frutiger 45 Light"/>
        <a:ea typeface=""/>
        <a:cs typeface=""/>
      </a:minorFont>
    </a:fontScheme>
    <a:fmtScheme name="Standard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a7c89997e549ae" /><Relationship Type="http://schemas.openxmlformats.org/officeDocument/2006/relationships/notesMaster" Target="/ppt/notesMasters/notesMaster1.xml" Id="Rdedebc45c7e7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c12ea7bab54d84" /><Relationship Type="http://schemas.openxmlformats.org/officeDocument/2006/relationships/notesMaster" Target="/ppt/notesMasters/notesMaster1.xml" Id="Rfde6a394b9df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41ecadf53d4d66" /><Relationship Type="http://schemas.openxmlformats.org/officeDocument/2006/relationships/notesMaster" Target="/ppt/notesMasters/notesMaster1.xml" Id="R69128dd1bed8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d54f7f1f984b57" /><Relationship Type="http://schemas.openxmlformats.org/officeDocument/2006/relationships/notesMaster" Target="/ppt/notesMasters/notesMaster1.xml" Id="Re9c2c807ff3849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cd825edc894c9c" /><Relationship Type="http://schemas.openxmlformats.org/officeDocument/2006/relationships/notesMaster" Target="/ppt/notesMasters/notesMaster1.xml" Id="R94f9a0803b06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0a58ee94843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c66f0a4294ec9" /></Relationships>
</file>

<file path=ppt/slideLayouts/slideLayout1.xml><?xml version="1.0" encoding="utf-8"?>
<p:sldLayout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F18C7CF-1970-4EB7-8F6D-C721AC3F74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28799" y="2102203"/>
            <a:ext cx="9086198" cy="523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Titelmasterformat durch Klicken bearbeiten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63B2ED5-D9F1-4C07-B54A-6925ADD5C7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799" y="3384575"/>
            <a:ext cx="9086197" cy="234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20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Formatvorlage des Untertitelmasters durch Klicken bearbeiten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el 26">
            <a:extLst xmlns:a="http://schemas.openxmlformats.org/drawingml/2006/main">
              <a:ext uri="{FF2B5EF4-FFF2-40B4-BE49-F238E27FC236}">
                <a16:creationId xmlns:a16="http://schemas.microsoft.com/office/drawing/2014/main" id="{2E708127-3F76-4A1A-AE21-79ED383A2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2585" y="69590"/>
            <a:ext cx="10975015" cy="523220"/>
          </a:xfrm>
        </p:spPr>
        <p:txBody>
          <a:bodyPr xmlns:a="http://schemas.openxmlformats.org/drawingml/2006/main" wrap="square"/>
          <a:lstStyle xmlns:a="http://schemas.openxmlformats.org/drawingml/2006/main">
            <a:lvl1pPr>
              <a:buNone/>
              <a:defRPr sz="2800">
                <a:latin typeface="Frutiger LT Com 55 Roman"/>
                <a:ea typeface="Frutiger LT Com 55 Roman"/>
                <a:cs typeface="Frutiger LT Com 55 Roman"/>
              </a:defRPr>
            </a:lvl1pPr>
          </a:lstStyle>
          <a:p xmlns:a="http://schemas.openxmlformats.org/drawingml/2006/main">
            <a:r>
              <a:t>Titelmasterformat</a:t>
            </a:r>
            <a:r>
              <a:t> </a:t>
            </a:r>
            <a:r>
              <a:t>durch</a:t>
            </a:r>
            <a:r>
              <a:t> </a:t>
            </a:r>
            <a:r>
              <a:t>Klicken</a:t>
            </a:r>
            <a:r>
              <a:t> </a:t>
            </a:r>
            <a:r>
              <a:t>bearbeiten</a:t>
            </a:r>
          </a:p>
        </p:txBody>
      </p:sp>
      <p:sp>
        <p:nvSpPr>
          <p:cNvPr id="10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C9899C8-1ECF-4DD6-975A-7B2466C7823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02585" y="777600"/>
            <a:ext cx="10975015" cy="53532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latin typeface="Frutiger LT Com 45 Light"/>
                <a:ea typeface="Frutiger LT Com 45 Light"/>
                <a:cs typeface="Frutiger LT Com 45 Light"/>
              </a:defRPr>
            </a:lvl1pPr>
            <a:lvl2pPr>
              <a:buNone/>
              <a:defRPr sz="1800">
                <a:latin typeface="Frutiger LT Com 45 Light"/>
                <a:ea typeface="Frutiger LT Com 45 Light"/>
                <a:cs typeface="Frutiger LT Com 45 Light"/>
              </a:defRPr>
            </a:lvl2pPr>
            <a:lvl3pPr marL="1143000" indent="-228600">
              <a:buChar char=""/>
              <a:defRPr sz="1600">
                <a:latin typeface="Frutiger LT Com 45 Light"/>
                <a:ea typeface="Frutiger LT Com 45 Light"/>
                <a:cs typeface="Frutiger LT Com 45 Light"/>
              </a:defRPr>
            </a:lvl3pPr>
            <a:lvl4pPr marL="1600200" indent="-228600">
              <a:buChar char=""/>
              <a:defRPr sz="1400">
                <a:latin typeface="Frutiger LT Com 45 Light"/>
                <a:ea typeface="Frutiger LT Com 45 Light"/>
                <a:cs typeface="Frutiger LT Com 45 Light"/>
              </a:defRPr>
            </a:lvl4pPr>
            <a:lvl5pPr marL="2057400" indent="-228600">
              <a:buChar char=""/>
              <a:defRPr sz="1400">
                <a:latin typeface="Frutiger LT Com 45 Light"/>
                <a:ea typeface="Frutiger LT Com 45 Light"/>
                <a:cs typeface="Frutiger LT Com 45 Light"/>
              </a:defRPr>
            </a:lvl5pPr>
          </a:lstStyle>
          <a:p xmlns:a="http://schemas.openxmlformats.org/drawingml/2006/main">
            <a:pPr>
              <a:buNone/>
            </a:pPr>
            <a:r>
              <a:t>Textmasterformat</a:t>
            </a:r>
            <a:r>
              <a:t> </a:t>
            </a:r>
            <a:r>
              <a:t>bearbeiten</a:t>
            </a:r>
          </a:p>
          <a:p xmlns:a="http://schemas.openxmlformats.org/drawingml/2006/main">
            <a:pPr>
              <a:buNone/>
            </a:pPr>
            <a:r>
              <a:t>Zweite</a:t>
            </a:r>
            <a:r>
              <a:t> </a:t>
            </a:r>
            <a:r>
              <a:t>Ebene</a:t>
            </a:r>
          </a:p>
          <a:p xmlns:a="http://schemas.openxmlformats.org/drawingml/2006/main">
            <a:pPr>
              <a:buNone/>
            </a:pPr>
            <a:r>
              <a:t>Dritte</a:t>
            </a:r>
            <a:r>
              <a:t> </a:t>
            </a:r>
            <a:r>
              <a:t>Ebene</a:t>
            </a:r>
          </a:p>
          <a:p xmlns:a="http://schemas.openxmlformats.org/drawingml/2006/main">
            <a:pPr>
              <a:buNone/>
            </a:pPr>
            <a:r>
              <a:t>Vierte</a:t>
            </a:r>
            <a:r>
              <a:t> </a:t>
            </a:r>
            <a:r>
              <a:t>Ebene</a:t>
            </a:r>
          </a:p>
          <a:p xmlns:a="http://schemas.openxmlformats.org/drawingml/2006/main">
            <a:pPr>
              <a:buNone/>
            </a:pPr>
            <a:r>
              <a:t>Fünfte</a:t>
            </a:r>
            <a:r>
              <a:t> </a:t>
            </a:r>
            <a:r>
              <a:t>Ebene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8689ce44e45ec" /><Relationship Type="http://schemas.openxmlformats.org/officeDocument/2006/relationships/slideLayout" Target="/ppt/slideLayouts/slideLayout1.xml" Id="Ra70b00a08c4542cc" /><Relationship Type="http://schemas.openxmlformats.org/officeDocument/2006/relationships/slideLayout" Target="/ppt/slideLayouts/slideLayout2.xml" Id="Re66a318da0824f7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elplatzhalter 24">
            <a:extLst xmlns:a="http://schemas.openxmlformats.org/drawingml/2006/main">
              <a:ext uri="{FF2B5EF4-FFF2-40B4-BE49-F238E27FC236}">
                <a16:creationId xmlns:a16="http://schemas.microsoft.com/office/drawing/2014/main" id="{3EAFB581-5F22-41AA-B5E2-DD0B69047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2585" y="69590"/>
            <a:ext cx="10975015" cy="523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t>Titelmasterformat</a:t>
            </a:r>
            <a:r>
              <a:t> </a:t>
            </a:r>
            <a:r>
              <a:t>durch</a:t>
            </a:r>
            <a:r>
              <a:t> </a:t>
            </a:r>
            <a:r>
              <a:t>Klicken</a:t>
            </a:r>
            <a:r>
              <a:t> </a:t>
            </a:r>
            <a:r>
              <a:t>bearbeiten</a:t>
            </a:r>
          </a:p>
        </p:txBody>
      </p:sp>
      <p:sp>
        <p:nvSpPr>
          <p:cNvPr id="26" name="Textplatzhalter 25">
            <a:extLst xmlns:a="http://schemas.openxmlformats.org/drawingml/2006/main">
              <a:ext uri="{FF2B5EF4-FFF2-40B4-BE49-F238E27FC236}">
                <a16:creationId xmlns:a16="http://schemas.microsoft.com/office/drawing/2014/main" id="{9DC73D12-3168-4847-B43A-8F13CB317F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2585" y="1602000"/>
            <a:ext cx="10975015" cy="452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Textmasterformate</a:t>
            </a:r>
            <a:r>
              <a:t> </a:t>
            </a:r>
            <a:r>
              <a:t>durch</a:t>
            </a:r>
            <a:r>
              <a:t> </a:t>
            </a:r>
            <a:r>
              <a:t>Klicken</a:t>
            </a:r>
            <a:r>
              <a:t> </a:t>
            </a:r>
            <a:r>
              <a:t>bearbeiten</a:t>
            </a:r>
          </a:p>
          <a:p xmlns:a="http://schemas.openxmlformats.org/drawingml/2006/main">
            <a:pPr>
              <a:buNone/>
            </a:pPr>
            <a:r>
              <a:t>Zweite</a:t>
            </a:r>
            <a:r>
              <a:t> </a:t>
            </a:r>
            <a:r>
              <a:t>Ebene</a:t>
            </a:r>
          </a:p>
          <a:p xmlns:a="http://schemas.openxmlformats.org/drawingml/2006/main">
            <a:pPr>
              <a:buNone/>
            </a:pPr>
            <a:r>
              <a:t>Dritte</a:t>
            </a:r>
            <a:r>
              <a:t> </a:t>
            </a:r>
            <a:r>
              <a:t>Ebene</a:t>
            </a:r>
          </a:p>
        </p:txBody>
      </p:sp>
      <p:sp>
        <p:nvSpPr>
          <p:cNvPr id="10" name="Textfeld 9">
            <a:extLst xmlns:a="http://schemas.openxmlformats.org/drawingml/2006/main">
              <a:ext uri="{FF2B5EF4-FFF2-40B4-BE49-F238E27FC236}">
                <a16:creationId xmlns:a16="http://schemas.microsoft.com/office/drawing/2014/main" id="{F63411D1-F0D0-4A43-8411-702CCCD1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76" y="6451568"/>
            <a:ext cx="4478369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Frutiger LT Com 45 Light"/>
                <a:ea typeface="Frutiger LT Com 45 Light"/>
                <a:cs typeface="Frutiger LT Com 45 Light"/>
              </a:rPr>
              <a:t>Laborprojekt </a:t>
            </a:r>
            <a:r>
              <a:rPr sz="1200">
                <a:solidFill>
                  <a:schemeClr val="tx1"/>
                </a:solidFill>
                <a:latin typeface="Frutiger LT Com 45 Light"/>
                <a:ea typeface="Frutiger LT Com 45 Light"/>
                <a:cs typeface="Frutiger LT Com 45 Light"/>
              </a:rPr>
              <a:t>Servicerobotik</a:t>
            </a:r>
            <a:r>
              <a:rPr sz="1200">
                <a:solidFill>
                  <a:schemeClr val="tx1"/>
                </a:solidFill>
                <a:latin typeface="Frutiger LT Com 45 Light"/>
                <a:ea typeface="Frutiger LT Com 45 Light"/>
                <a:cs typeface="Frutiger LT Com 45 Light"/>
              </a:rPr>
              <a:t>/Bildverarbeitung für Robotik</a:t>
            </a:r>
            <a:r>
              <a:rPr sz="1200">
                <a:solidFill>
                  <a:schemeClr val="tx1"/>
                </a:solidFill>
                <a:latin typeface="Frutiger LT Com 45 Light"/>
                <a:ea typeface="Frutiger LT Com 45 Light"/>
                <a:cs typeface="Frutiger LT Com 45 Light"/>
              </a:rPr>
              <a:t> SS 2026</a:t>
            </a:r>
          </a:p>
        </p:txBody>
      </p:sp>
      <p:sp>
        <p:nvSpPr>
          <p:cNvPr id="11" name="Textfeld 10">
            <a:extLst xmlns:a="http://schemas.openxmlformats.org/drawingml/2006/main">
              <a:ext uri="{FF2B5EF4-FFF2-40B4-BE49-F238E27FC236}">
                <a16:creationId xmlns:a16="http://schemas.microsoft.com/office/drawing/2014/main" id="{EB6F5DDE-5D30-421E-928F-0876D362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451568"/>
            <a:ext cx="4955096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000000"/>
                </a:solidFill>
                <a:latin typeface="Frutiger LT Com 45 Light"/>
                <a:ea typeface="Frutiger LT Com 45 Light"/>
                <a:cs typeface="Frutiger LT Com 45 Light"/>
              </a:rPr>
              <a:t>Abschlusspräsentation Projekt 02, &lt; Shufang Tao , Yuxin Song , Yuyang Ren  &gt; </a:t>
            </a:r>
          </a:p>
        </p:txBody>
      </p:sp>
      <p:sp>
        <p:nvSpPr>
          <p:cNvPr id="12" name="Textfeld 11">
            <a:extLst xmlns:a="http://schemas.openxmlformats.org/drawingml/2006/main">
              <a:ext uri="{FF2B5EF4-FFF2-40B4-BE49-F238E27FC236}">
                <a16:creationId xmlns:a16="http://schemas.microsoft.com/office/drawing/2014/main" id="{CE28B87B-D670-4820-9C55-36E9D5B3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779" y="6451568"/>
            <a:ext cx="454247" cy="276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A48E7E1A-9428-4A65-9A82-0771208A7443}" type="slidenum">
              <a:rPr sz="1200">
                <a:latin typeface="Frutiger LT Com 45 Light"/>
                <a:ea typeface="Frutiger LT Com 45 Light"/>
                <a:cs typeface="Frutiger LT Com 45 Light"/>
              </a:rPr>
              <a:t>‹Nr.›</a:t>
            </a:fld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AEAA1189-EAF9-423F-86B4-9D345D19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313"/>
            <a:ext cx="11076923" cy="8521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9377"/>
              </a:gs>
              <a:gs pos="100000">
                <a:srgbClr val="009377">
                  <a:alpha val="0"/>
                </a:srgb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03E202F1-A2D9-45BF-BA27-2F3C84C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25588" y="6264315"/>
            <a:ext cx="11076923" cy="8521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9377"/>
              </a:gs>
              <a:gs pos="100000">
                <a:srgbClr val="009377">
                  <a:alpha val="0"/>
                </a:srgb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b00a08c4542cc"/>
    <p:sldLayoutId xmlns:r="http://schemas.openxmlformats.org/officeDocument/2006/relationships" id="2147483650" r:id="Re66a318da0824f7d"/>
  </p:sldLayoutIdLst>
  <p:hf hdr="0"/>
  <p:txStyles>
    <p:titleStyle>
      <a:lvl1pPr xmlns:a="http://schemas.openxmlformats.org/drawingml/2006/main" algn="l">
        <a:buNone/>
        <a:defRPr sz="2800">
          <a:solidFill>
            <a:srgbClr val="4D4D4D"/>
          </a:solidFill>
          <a:latin typeface="Frutiger LT Com 55 Roman"/>
          <a:ea typeface="Frutiger LT Com 55 Roman"/>
          <a:cs typeface="Frutiger LT Com 55 Roman"/>
        </a:defRPr>
      </a:lvl1pPr>
      <a:lvl2pPr xmlns:a="http://schemas.openxmlformats.org/drawingml/2006/main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2pPr>
      <a:lvl3pPr xmlns:a="http://schemas.openxmlformats.org/drawingml/2006/main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3pPr>
      <a:lvl4pPr xmlns:a="http://schemas.openxmlformats.org/drawingml/2006/main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4pPr>
      <a:lvl5pPr xmlns:a="http://schemas.openxmlformats.org/drawingml/2006/main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5pPr>
      <a:lvl6pPr xmlns:a="http://schemas.openxmlformats.org/drawingml/2006/main" marL="457200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6pPr>
      <a:lvl7pPr xmlns:a="http://schemas.openxmlformats.org/drawingml/2006/main" marL="914400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7pPr>
      <a:lvl8pPr xmlns:a="http://schemas.openxmlformats.org/drawingml/2006/main" marL="1371600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8pPr>
      <a:lvl9pPr xmlns:a="http://schemas.openxmlformats.org/drawingml/2006/main" marL="1828800" algn="l">
        <a:buNone/>
        <a:defRPr sz="2800">
          <a:solidFill>
            <a:srgbClr val="4D4D4D"/>
          </a:solidFill>
          <a:latin typeface="Frutiger 55 Roman"/>
          <a:ea typeface="Frutiger 55 Roman"/>
          <a:cs typeface="Frutiger 55 Roman"/>
        </a:defRPr>
      </a:lvl9pPr>
    </p:titleStyle>
    <p:bodyStyle>
      <a:lvl1pPr xmlns:a="http://schemas.openxmlformats.org/drawingml/2006/main" marL="342900" indent="-342900" algn="l">
        <a:buChar char="§"/>
        <a:defRPr sz="2400">
          <a:solidFill>
            <a:schemeClr val="tx1"/>
          </a:solidFill>
          <a:latin typeface="Frutiger LT Com 45 Light"/>
          <a:ea typeface="Frutiger LT Com 45 Light"/>
          <a:cs typeface="Frutiger LT Com 45 Light"/>
        </a:defRPr>
      </a:lvl1pPr>
      <a:lvl2pPr xmlns:a="http://schemas.openxmlformats.org/drawingml/2006/main" marL="742950" indent="-285750" algn="l">
        <a:buChar char="•"/>
        <a:defRPr sz="2000">
          <a:solidFill>
            <a:schemeClr val="tx1"/>
          </a:solidFill>
          <a:latin typeface="Frutiger LT Com 45 Light"/>
          <a:ea typeface="Frutiger LT Com 45 Light"/>
          <a:cs typeface="Frutiger LT Com 45 Light"/>
        </a:defRPr>
      </a:lvl2pPr>
      <a:lvl3pPr xmlns:a="http://schemas.openxmlformats.org/drawingml/2006/main" marL="1143000" indent="-228600" algn="l">
        <a:buChar char="-"/>
        <a:defRPr sz="2000">
          <a:solidFill>
            <a:schemeClr val="tx1"/>
          </a:solidFill>
          <a:latin typeface="Frutiger LT Com 45 Light"/>
          <a:ea typeface="Frutiger LT Com 45 Light"/>
          <a:cs typeface="Frutiger LT Com 45 Light"/>
        </a:defRPr>
      </a:lvl3pPr>
      <a:lvl4pPr xmlns:a="http://schemas.openxmlformats.org/drawingml/2006/main" marL="1600200" indent="-228600" algn="l">
        <a:buChar char="­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­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­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­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­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­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Frutiger 55 Roman"/>
        <a:ea typeface=""/>
        <a:cs typeface=""/>
      </a:majorFont>
      <a:minorFont>
        <a:latin typeface="Frutiger 45 Light"/>
        <a:ea typeface=""/>
        <a:cs typeface=""/>
      </a:minorFont>
    </a:fontScheme>
    <a:fmtScheme name="Standard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e072b4ebcf45a2" /><Relationship Type="http://schemas.openxmlformats.org/officeDocument/2006/relationships/image" Target="/ppt/media/image.jpeg" Id="R3aef1a8b14284380" /><Relationship Type="http://schemas.openxmlformats.org/officeDocument/2006/relationships/notesSlide" Target="/ppt/notesSlides/notesSlide1.xml" Id="R51ad131e548a4f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03b92351aa4ac6" /><Relationship Type="http://schemas.openxmlformats.org/officeDocument/2006/relationships/image" Target="/ppt/media/image.png" Id="R9928f9b284af4b4c" /><Relationship Type="http://schemas.openxmlformats.org/officeDocument/2006/relationships/image" Target="/ppt/media/image2.png" Id="R287dc660d6244ec7" /><Relationship Type="http://schemas.openxmlformats.org/officeDocument/2006/relationships/notesSlide" Target="/ppt/notesSlides/notesSlide2.xml" Id="Raec427adaef340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931adb39ba41a6" /><Relationship Type="http://schemas.openxmlformats.org/officeDocument/2006/relationships/image" Target="/ppt/media/image3.png" Id="R89cef2e90c004a2a" /><Relationship Type="http://schemas.openxmlformats.org/officeDocument/2006/relationships/notesSlide" Target="/ppt/notesSlides/notesSlide3.xml" Id="Ra4c1d028eec2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68261dca914b9e" /><Relationship Type="http://schemas.openxmlformats.org/officeDocument/2006/relationships/image" Target="/ppt/media/image4.png" Id="Rd22cba281f074b8c" /><Relationship Type="http://schemas.openxmlformats.org/officeDocument/2006/relationships/notesSlide" Target="/ppt/notesSlides/notesSlide4.xml" Id="R29ea5f5316f04a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ff66c2e81b4c02" /><Relationship Type="http://schemas.openxmlformats.org/officeDocument/2006/relationships/image" Target="/ppt/media/image2.jpeg" Id="Rcd61ee763d984e60" /><Relationship Type="http://schemas.openxmlformats.org/officeDocument/2006/relationships/notesSlide" Target="/ppt/notesSlides/notesSlide5.xml" Id="Rd199ec36a26c47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CDD43AFE-45DE-4C40-ADD2-BA4ED73F8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binary DirtNet task became a 10-class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BC50C-17FD-4D73-A1F3-5D3CA196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5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10 classes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D3542-9654-4EF0-B2E2-BBD02D2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5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dirt + 9 office-object 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92F0A-717F-4560-8585-53071B1B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695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99"/>
          </a:solidFill>
          <a:ln xmlns:a="http://schemas.openxmlformats.org/drawingml/2006/main" w="0">
            <a:solidFill>
              <a:srgbClr val="009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7163A-EEF7-4976-9AAE-1BC3239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701A6-AB58-4252-9959-1E30D9CC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860 training images · 8,626 boxes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296 validation images · 2,962 boxes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80 held-out real images · 644 boxes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DC419-A02E-4476-8355-36F6EB2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rPr>
              <a:t>Controlled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66076-64FF-47F2-8B3D-BFA8D6D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YOLO11M · 1024 px · batch 2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30 epochs on synthetic data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Independent real-world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514DB-EEB7-4C08-A57B-0CE08A63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business cards · keys · other · paper/notebooks · pens · rulers · scissors · tapes · USB sticks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B360F-11DE-481E-9225-ED0ECC6B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038225"/>
            <a:ext cx="6343650" cy="439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f1a8b14284380"/>
          <a:stretch xmlns:a="http://schemas.openxmlformats.org/drawingml/2006/main"/>
        </p:blipFill>
        <p:spPr>
          <a:xfrm xmlns:a="http://schemas.openxmlformats.org/drawingml/2006/main">
            <a:off x="5048250" y="1299766"/>
            <a:ext cx="6286500" cy="38679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88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CDD43AFE-45DE-4C40-ADD2-BA4ED73F8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validation confirmed a working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C17DC-A298-4399-A5B2-0AED42EB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962025"/>
            <a:ext cx="70104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8f9b284af4b4c"/>
          <a:stretch xmlns:a="http://schemas.openxmlformats.org/drawingml/2006/main"/>
        </p:blipFill>
        <p:spPr>
          <a:xfrm xmlns:a="http://schemas.openxmlformats.org/drawingml/2006/main">
            <a:off x="733425" y="990600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02A38-95B0-4523-8A2C-678BC7AF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962025"/>
            <a:ext cx="34861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dc660d6244ec7"/>
          <a:stretch xmlns:a="http://schemas.openxmlformats.org/drawingml/2006/main"/>
        </p:blipFill>
        <p:spPr>
          <a:xfrm xmlns:a="http://schemas.openxmlformats.org/drawingml/2006/main">
            <a:off x="7905750" y="1419225"/>
            <a:ext cx="342900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9D188-78E1-4A75-9AF0-EF2981E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362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76326-854F-4496-AD91-4823F508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2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0.953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EE73B-6549-4329-AEF0-5502D69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0CB71-7113-4754-973E-EE4DAA34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38675"/>
            <a:ext cx="2362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C204-9BD1-4435-A214-A621332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2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0.930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23C5C-8BC6-4B00-AA33-E424F0D2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958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86A76-F125-47F8-986C-A3816044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38675"/>
            <a:ext cx="2362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DB432-3752-444C-ADED-9AAC5D6A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25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rPr>
              <a:t>0.961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288F3-4A63-4BB9-9B5A-F35F5D43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958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mAP@0.5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3830-2AEC-46F6-8E94-370965A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3105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1D57B-949D-433D-8546-5BE560E8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053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25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rPr>
              <a:t>0.814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6B327-B5F4-4F85-AC4B-F3FB58A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12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mAP@0.5–0.95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2C203-92E8-4C2B-A198-216DC5A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Meaning: the 10-class labels, output head and training pipeline function correctly.</a:t>
            </a:r>
          </a:p>
        </p:txBody>
      </p:sp>
    </p:spTree>
    <p:extLst>
      <p:ext uri="{BB962C8B-B14F-4D97-AF65-F5344CB8AC3E}">
        <p14:creationId xmlns:p14="http://schemas.microsoft.com/office/powerpoint/2010/main" val="1251188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CDD43AFE-45DE-4C40-ADD2-BA4ED73F8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images exposed a clear domain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87161-CD39-4B11-AE11-4ECC5909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Synthetic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45CCC-BDAC-49F0-8E8D-8868788A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906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rPr>
              <a:t>Independent real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8E56B-3D49-4764-9F20-BFBCF1A8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7716E-F979-4495-9099-368EA4AF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668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rPr>
              <a:t>0.953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7A99E-D8ED-43DF-8FA5-58D2C22C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668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rPr>
              <a:t>0.665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9126A-B48E-445C-A7CE-1DF7014B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F3071-879F-4B6D-8FE8-8A2BD3F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050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rPr>
              <a:t>0.930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732A8-9798-46BE-9E54-B6EFBF21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0502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rPr>
              <a:t>0.776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74DCD-A018-4295-A4B9-92C52F30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mAP@0.5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E6DE8-D50C-4856-976F-5E5CFE5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432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rPr>
              <a:t>0.961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E99C8-7854-4DC6-A5E2-731C6A59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rPr>
              <a:t>0.737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E4E44-4F27-449A-B013-AB93538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mAP@0.5–0.95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2B8DD-1016-41A0-AFBB-1343D12A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8137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rPr>
              <a:t>0.814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D0032-EE47-4C0C-B56D-E5792F29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81375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650" b="1">
                <a:solidFill>
                  <a:srgbClr val="2D2D8A"/>
                </a:solidFill>
                <a:latin typeface="Frutiger LT Com 45 Light"/>
                <a:ea typeface="Frutiger LT Com 45 Light"/>
                <a:cs typeface="Frutiger LT Com 45 Light"/>
              </a:rPr>
              <a:t>0.554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B863F-299A-45FA-A1AF-758B0244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E7A8A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23A48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800" b="1">
                <a:solidFill>
                  <a:srgbClr val="B23A48"/>
                </a:solidFill>
                <a:latin typeface="Frutiger LT Com 55 Roman"/>
                <a:ea typeface="Frutiger LT Com 55 Roman"/>
                <a:cs typeface="Frutiger LT Com 55 Roman"/>
              </a:rPr>
              <a:t>mAP@0.5 dropped by 0.224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AFA9B-8B88-4AED-9DD4-C8F73A11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4"/>
              </a:spcAft>
              <a:buNone/>
              <a:defRPr sz="1275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Strong: pens, scissors, paper/notebooks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4"/>
              </a:spcAft>
              <a:buNone/>
              <a:defRPr sz="1275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Weak: other, rulers, USB sticks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4"/>
              </a:spcAft>
              <a:buNone/>
              <a:defRPr sz="1275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Reflections, shadows and floor texture increase false positives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18544-C5AF-48FC-8092-67A0348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62025"/>
            <a:ext cx="5629275" cy="41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ef2e90c004a2a"/>
          <a:stretch xmlns:a="http://schemas.openxmlformats.org/drawingml/2006/main"/>
        </p:blipFill>
        <p:spPr>
          <a:xfrm xmlns:a="http://schemas.openxmlformats.org/drawingml/2006/main">
            <a:off x="5762625" y="1181100"/>
            <a:ext cx="5572125" cy="3714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22809-CCC1-44AA-AF64-BC91388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3875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The gap affects both classification and box localization.</a:t>
            </a:r>
          </a:p>
        </p:txBody>
      </p:sp>
    </p:spTree>
    <p:extLst>
      <p:ext uri="{BB962C8B-B14F-4D97-AF65-F5344CB8AC3E}">
        <p14:creationId xmlns:p14="http://schemas.microsoft.com/office/powerpoint/2010/main" val="12511886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CDD43AFE-45DE-4C40-ADD2-BA4ED73F8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Low-rate fine-tuning did not improve real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5BE01-F4B0-4E37-90CD-95D09AA5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425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rPr>
              <a:t>Modified parameter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3AA1A-CE8B-4C2A-BAA0-7E69BCE8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95250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425" b="1">
                <a:solidFill>
                  <a:srgbClr val="111111"/>
                </a:solidFill>
                <a:latin typeface="Frutiger LT Com 55 Roman"/>
                <a:ea typeface="Frutiger LT Com 55 Roman"/>
                <a:cs typeface="Frutiger LT Com 55 Roman"/>
              </a:rPr>
              <a:t>Why it was 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8F781-6351-4983-964D-93A46797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Baseline best.pt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714EA-3BFC-4353-9DCE-9243E50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43025"/>
            <a:ext cx="280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Refine an already converged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7F07C-F8F7-48C1-ABA3-B3729B9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AdamW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96760-03B0-4893-8F29-9BBDAF1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280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Adaptive steps + decoupled weight decay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E8CAB-5857-4506-B769-35C04D99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1">
                <a:solidFill>
                  <a:srgbClr val="009999"/>
                </a:solidFill>
                <a:latin typeface="Frutiger LT Com 45 Light"/>
                <a:ea typeface="Frutiger LT Com 45 Light"/>
                <a:cs typeface="Frutiger LT Com 45 Light"/>
              </a:rPr>
              <a:t>lr₀ = 1×10⁻⁴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79570-672B-4048-A44C-9854439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28875"/>
            <a:ext cx="280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Smaller updates preserve learned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7A043-EBF6-4A30-B0EE-ED40E8C8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Cosine decay → 1×10⁻⁵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D9E2A-E6A2-489F-9644-C367C35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280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Smooth convergence near the optimum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50498-D477-4D65-BCC7-7028DF15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Mosaic disabled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1FF4-314A-4388-9FB0-5F6E37E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14725"/>
            <a:ext cx="280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Stabilize layout and localization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3A7DA-9D5B-49EE-8C32-33C0F126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1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15 epochs · patience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2C151-ED64-4836-B5E7-6C0F73C3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57650"/>
            <a:ext cx="280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Bounded refinement; stop early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AC996-E8F4-4E2A-B635-FCD2B7ED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962025"/>
            <a:ext cx="52006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cba281f074b8c"/>
          <a:stretch xmlns:a="http://schemas.openxmlformats.org/drawingml/2006/main"/>
        </p:blipFill>
        <p:spPr>
          <a:xfrm xmlns:a="http://schemas.openxmlformats.org/drawingml/2006/main">
            <a:off x="6191250" y="1133475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02D1F-2DD1-47CE-AE20-D96B5D9F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Synthetic mAP@0.5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86657-D49A-43D5-9028-C786A4C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025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0.961  →  0.968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C1C6E-96F7-4383-A63E-8E60ABEA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05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75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Real mAP@0.5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D22D8-F276-45BA-9AAB-71991F6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B23A48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2025" b="1">
                <a:solidFill>
                  <a:srgbClr val="B23A48"/>
                </a:solidFill>
                <a:latin typeface="Frutiger LT Com 55 Roman"/>
                <a:ea typeface="Frutiger LT Com 55 Roman"/>
                <a:cs typeface="Frutiger LT Com 55 Roman"/>
              </a:rPr>
              <a:t>0.737  →  0.726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7F32F-5341-454D-9A1B-1960FB3E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5143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AEDEF"/>
          </a:solidFill>
          <a:ln xmlns:a="http://schemas.openxmlformats.org/drawingml/2006/main" w="9525">
            <a:solidFill>
              <a:srgbClr val="BBE0E3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50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Further optimization fitted the synthetic domain more closely, but did not close the real-world gap.</a:t>
            </a:r>
          </a:p>
        </p:txBody>
      </p:sp>
    </p:spTree>
    <p:extLst>
      <p:ext uri="{BB962C8B-B14F-4D97-AF65-F5344CB8AC3E}">
        <p14:creationId xmlns:p14="http://schemas.microsoft.com/office/powerpoint/2010/main" val="12511886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CDD43AFE-45DE-4C40-ADD2-BA4ED73F8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Further gains require real-world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EC517-2E25-4D28-9EE5-FFBEE550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962025"/>
            <a:ext cx="40576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BE0E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1ee763d984e60"/>
          <a:stretch xmlns:a="http://schemas.openxmlformats.org/drawingml/2006/main"/>
        </p:blipFill>
        <p:spPr>
          <a:xfrm xmlns:a="http://schemas.openxmlformats.org/drawingml/2006/main">
            <a:off x="685800" y="1354282"/>
            <a:ext cx="4000500" cy="327313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4046B-8124-422B-8038-6FB57B3C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200" b="0">
                <a:solidFill>
                  <a:srgbClr val="6B7280"/>
                </a:solidFill>
                <a:latin typeface="Frutiger LT Com 45 Light"/>
                <a:ea typeface="Frutiger LT Com 45 Light"/>
                <a:cs typeface="Frutiger LT Com 45 Light"/>
              </a:rPr>
              <a:t>Correct detections coexist with missed objects and reflective-floor ambiguity.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D5A7-BFC7-48C1-92A9-C5ED261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6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Critical discussion &amp; lessons learned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7018E-EC7D-46DC-967C-163B102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6191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8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High synthetic scores do not guarantee real-world performance.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8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More epochs and lower learning rates cannot solve domain mismatch.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8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Class balance, label definitions and data distribution dominate the remaining error.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8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The broad “other” class introduces substantial ambiguity.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40E30-3729-4F47-AD02-D2FE1E95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650" b="1">
                <a:solidFill>
                  <a:srgbClr val="2D2D8A"/>
                </a:solidFill>
                <a:latin typeface="Frutiger LT Com 55 Roman"/>
                <a:ea typeface="Frutiger LT Com 55 Roman"/>
                <a:cs typeface="Frutiger LT Com 55 Roman"/>
              </a:rPr>
              <a:t>Outlook and future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EA7B7-F253-4D2C-8C99-3B243A7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619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Collect separate real training and validation data.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Add weak classes and difficult negative samples.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Model reflections, shadows, scratches and low light.</a:t>
            </a:r>
          </a:p>
          <a:p xmlns:a="http://schemas.openxmlformats.org/drawingml/2006/main">
            <a:pPr marL="18" indent="-12" algn="l">
              <a:lnSpc>
                <a:spcPct val="105000"/>
              </a:lnSpc>
              <a:spcAft>
                <a:spcPts val="7"/>
              </a:spcAft>
              <a:buNone/>
              <a:def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defRPr>
            </a:pPr>
            <a:r>
              <a:rPr sz="1350" b="0">
                <a:solidFill>
                  <a:srgbClr val="4D4D4D"/>
                </a:solidFill>
                <a:latin typeface="Frutiger LT Com 45 Light"/>
                <a:ea typeface="Frutiger LT Com 45 Light"/>
                <a:cs typeface="Frutiger LT Com 45 Light"/>
              </a:rPr>
              <a:t>Redefine “other” and tune confidence for robot priorities.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21745-2EE4-4425-85D8-F160A60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673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3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defRPr>
            </a:pPr>
            <a:r>
              <a:rPr sz="1350" b="1">
                <a:solidFill>
                  <a:srgbClr val="009999"/>
                </a:solidFill>
                <a:latin typeface="Frutiger LT Com 55 Roman"/>
                <a:ea typeface="Frutiger LT Com 55 Roman"/>
                <a:cs typeface="Frutiger LT Com 55 Roman"/>
              </a:rPr>
              <a:t>A functional multiclass baseline is established; real-domain adaptation is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1251188637"/>
      </p:ext>
    </p:extLst>
  </p:cSld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Frutiger 55 Roman"/>
        <a:ea typeface=""/>
        <a:cs typeface=""/>
      </a:majorFont>
      <a:minorFont>
        <a:latin typeface="Frutiger 45 Light"/>
        <a:ea typeface=""/>
        <a:cs typeface=""/>
      </a:minorFont>
    </a:fontScheme>
    <a:fmtScheme name="Standard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2026-07-05T21:15:16.2750000Z</dcterms:created>
  <dcterms:modified xsi:type="dcterms:W3CDTF">2026-07-05T21:15:16.2750000Z</dcterms:modified>
</coreProperties>
</file>